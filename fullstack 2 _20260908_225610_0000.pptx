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ff Yer Trolley" charset="1" panose="00000000000000000000"/>
      <p:regular r:id="rId18"/>
    </p:embeddedFont>
    <p:embeddedFont>
      <p:font typeface="Lookpeach Font TH" charset="1" panose="02000503000000000000"/>
      <p:regular r:id="rId19"/>
    </p:embeddedFont>
    <p:embeddedFont>
      <p:font typeface="Lookpeach Font TH Bold" charset="1" panose="02000503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8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3699" y="9046802"/>
            <a:ext cx="6802241" cy="1936116"/>
            <a:chOff x="0" y="0"/>
            <a:chExt cx="28556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5645" cy="812800"/>
            </a:xfrm>
            <a:custGeom>
              <a:avLst/>
              <a:gdLst/>
              <a:ahLst/>
              <a:cxnLst/>
              <a:rect r="r" b="b" t="t" l="l"/>
              <a:pathLst>
                <a:path h="812800" w="2855645">
                  <a:moveTo>
                    <a:pt x="1427823" y="0"/>
                  </a:moveTo>
                  <a:cubicBezTo>
                    <a:pt x="639258" y="0"/>
                    <a:pt x="0" y="181951"/>
                    <a:pt x="0" y="406400"/>
                  </a:cubicBezTo>
                  <a:cubicBezTo>
                    <a:pt x="0" y="630849"/>
                    <a:pt x="639258" y="812800"/>
                    <a:pt x="1427823" y="812800"/>
                  </a:cubicBezTo>
                  <a:cubicBezTo>
                    <a:pt x="2216387" y="812800"/>
                    <a:pt x="2855645" y="630849"/>
                    <a:pt x="2855645" y="406400"/>
                  </a:cubicBezTo>
                  <a:cubicBezTo>
                    <a:pt x="2855645" y="181951"/>
                    <a:pt x="2216387" y="0"/>
                    <a:pt x="1427823" y="0"/>
                  </a:cubicBezTo>
                  <a:close/>
                </a:path>
              </a:pathLst>
            </a:custGeom>
            <a:solidFill>
              <a:srgbClr val="90BB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67717" y="38100"/>
              <a:ext cx="2320212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4217" y="5557370"/>
            <a:ext cx="3610566" cy="4457489"/>
          </a:xfrm>
          <a:custGeom>
            <a:avLst/>
            <a:gdLst/>
            <a:ahLst/>
            <a:cxnLst/>
            <a:rect r="r" b="b" t="t" l="l"/>
            <a:pathLst>
              <a:path h="4457489" w="3610566">
                <a:moveTo>
                  <a:pt x="0" y="0"/>
                </a:moveTo>
                <a:lnTo>
                  <a:pt x="3610566" y="0"/>
                </a:lnTo>
                <a:lnTo>
                  <a:pt x="3610566" y="4457490"/>
                </a:lnTo>
                <a:lnTo>
                  <a:pt x="0" y="4457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4845" y="5632607"/>
            <a:ext cx="1278742" cy="1214805"/>
          </a:xfrm>
          <a:custGeom>
            <a:avLst/>
            <a:gdLst/>
            <a:ahLst/>
            <a:cxnLst/>
            <a:rect r="r" b="b" t="t" l="l"/>
            <a:pathLst>
              <a:path h="1214805" w="1278742">
                <a:moveTo>
                  <a:pt x="0" y="0"/>
                </a:moveTo>
                <a:lnTo>
                  <a:pt x="1278743" y="0"/>
                </a:lnTo>
                <a:lnTo>
                  <a:pt x="1278743" y="1214805"/>
                </a:lnTo>
                <a:lnTo>
                  <a:pt x="0" y="1214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3882637" y="6658830"/>
            <a:ext cx="1278742" cy="1214805"/>
          </a:xfrm>
          <a:custGeom>
            <a:avLst/>
            <a:gdLst/>
            <a:ahLst/>
            <a:cxnLst/>
            <a:rect r="r" b="b" t="t" l="l"/>
            <a:pathLst>
              <a:path h="1214805" w="1278742">
                <a:moveTo>
                  <a:pt x="1278742" y="0"/>
                </a:moveTo>
                <a:lnTo>
                  <a:pt x="0" y="0"/>
                </a:lnTo>
                <a:lnTo>
                  <a:pt x="0" y="1214805"/>
                </a:lnTo>
                <a:lnTo>
                  <a:pt x="1278742" y="1214805"/>
                </a:lnTo>
                <a:lnTo>
                  <a:pt x="127874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65041" y="2127281"/>
            <a:ext cx="3886311" cy="310905"/>
          </a:xfrm>
          <a:custGeom>
            <a:avLst/>
            <a:gdLst/>
            <a:ahLst/>
            <a:cxnLst/>
            <a:rect r="r" b="b" t="t" l="l"/>
            <a:pathLst>
              <a:path h="310905" w="3886311">
                <a:moveTo>
                  <a:pt x="0" y="0"/>
                </a:moveTo>
                <a:lnTo>
                  <a:pt x="3886312" y="0"/>
                </a:lnTo>
                <a:lnTo>
                  <a:pt x="3886312" y="310905"/>
                </a:lnTo>
                <a:lnTo>
                  <a:pt x="0" y="31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92496" y="5974237"/>
            <a:ext cx="4429530" cy="531544"/>
          </a:xfrm>
          <a:custGeom>
            <a:avLst/>
            <a:gdLst/>
            <a:ahLst/>
            <a:cxnLst/>
            <a:rect r="r" b="b" t="t" l="l"/>
            <a:pathLst>
              <a:path h="531544" w="4429530">
                <a:moveTo>
                  <a:pt x="0" y="0"/>
                </a:moveTo>
                <a:lnTo>
                  <a:pt x="4429530" y="0"/>
                </a:lnTo>
                <a:lnTo>
                  <a:pt x="4429530" y="531544"/>
                </a:lnTo>
                <a:lnTo>
                  <a:pt x="0" y="5315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87507" y="1992102"/>
            <a:ext cx="3886311" cy="310905"/>
          </a:xfrm>
          <a:custGeom>
            <a:avLst/>
            <a:gdLst/>
            <a:ahLst/>
            <a:cxnLst/>
            <a:rect r="r" b="b" t="t" l="l"/>
            <a:pathLst>
              <a:path h="310905" w="3886311">
                <a:moveTo>
                  <a:pt x="0" y="0"/>
                </a:moveTo>
                <a:lnTo>
                  <a:pt x="3886311" y="0"/>
                </a:lnTo>
                <a:lnTo>
                  <a:pt x="3886311" y="310905"/>
                </a:lnTo>
                <a:lnTo>
                  <a:pt x="0" y="31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92496" y="2516347"/>
            <a:ext cx="4745218" cy="4142483"/>
          </a:xfrm>
          <a:custGeom>
            <a:avLst/>
            <a:gdLst/>
            <a:ahLst/>
            <a:cxnLst/>
            <a:rect r="r" b="b" t="t" l="l"/>
            <a:pathLst>
              <a:path h="4142483" w="4745218">
                <a:moveTo>
                  <a:pt x="0" y="0"/>
                </a:moveTo>
                <a:lnTo>
                  <a:pt x="4745218" y="0"/>
                </a:lnTo>
                <a:lnTo>
                  <a:pt x="4745218" y="4142483"/>
                </a:lnTo>
                <a:lnTo>
                  <a:pt x="0" y="41424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742" t="0" r="-2170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26674" y="617443"/>
            <a:ext cx="15034651" cy="125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0"/>
              </a:lnSpc>
            </a:pPr>
            <a:r>
              <a:rPr lang="en-US" sz="7342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CLÍ</a:t>
            </a:r>
            <a:r>
              <a:rPr lang="en-US" sz="7342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NICA NUTRICIONAL NUTRIVIDA</a:t>
            </a:r>
          </a:p>
          <a:p>
            <a:pPr algn="ctr">
              <a:lnSpc>
                <a:spcPts val="1028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1836245" y="7266232"/>
            <a:ext cx="5423055" cy="2465574"/>
            <a:chOff x="0" y="0"/>
            <a:chExt cx="2124720" cy="965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4720" cy="965997"/>
            </a:xfrm>
            <a:custGeom>
              <a:avLst/>
              <a:gdLst/>
              <a:ahLst/>
              <a:cxnLst/>
              <a:rect r="r" b="b" t="t" l="l"/>
              <a:pathLst>
                <a:path h="965997" w="2124720">
                  <a:moveTo>
                    <a:pt x="72807" y="0"/>
                  </a:moveTo>
                  <a:lnTo>
                    <a:pt x="2051912" y="0"/>
                  </a:lnTo>
                  <a:cubicBezTo>
                    <a:pt x="2071222" y="0"/>
                    <a:pt x="2089741" y="7671"/>
                    <a:pt x="2103395" y="21325"/>
                  </a:cubicBezTo>
                  <a:cubicBezTo>
                    <a:pt x="2117049" y="34979"/>
                    <a:pt x="2124720" y="53498"/>
                    <a:pt x="2124720" y="72807"/>
                  </a:cubicBezTo>
                  <a:lnTo>
                    <a:pt x="2124720" y="893189"/>
                  </a:lnTo>
                  <a:cubicBezTo>
                    <a:pt x="2124720" y="912499"/>
                    <a:pt x="2117049" y="931018"/>
                    <a:pt x="2103395" y="944672"/>
                  </a:cubicBezTo>
                  <a:cubicBezTo>
                    <a:pt x="2089741" y="958326"/>
                    <a:pt x="2071222" y="965997"/>
                    <a:pt x="2051912" y="965997"/>
                  </a:cubicBezTo>
                  <a:lnTo>
                    <a:pt x="72807" y="965997"/>
                  </a:lnTo>
                  <a:cubicBezTo>
                    <a:pt x="53498" y="965997"/>
                    <a:pt x="34979" y="958326"/>
                    <a:pt x="21325" y="944672"/>
                  </a:cubicBezTo>
                  <a:cubicBezTo>
                    <a:pt x="7671" y="931018"/>
                    <a:pt x="0" y="912499"/>
                    <a:pt x="0" y="893189"/>
                  </a:cubicBezTo>
                  <a:lnTo>
                    <a:pt x="0" y="72807"/>
                  </a:lnTo>
                  <a:cubicBezTo>
                    <a:pt x="0" y="53498"/>
                    <a:pt x="7671" y="34979"/>
                    <a:pt x="21325" y="21325"/>
                  </a:cubicBezTo>
                  <a:cubicBezTo>
                    <a:pt x="34979" y="7671"/>
                    <a:pt x="53498" y="0"/>
                    <a:pt x="72807" y="0"/>
                  </a:cubicBezTo>
                  <a:close/>
                </a:path>
              </a:pathLst>
            </a:custGeom>
            <a:solidFill>
              <a:srgbClr val="90BB3F">
                <a:alpha val="68627"/>
              </a:srgbClr>
            </a:solidFill>
            <a:ln w="28575" cap="rnd">
              <a:solidFill>
                <a:srgbClr val="FFFFFF">
                  <a:alpha val="6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124720" cy="1023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49537" y="7649918"/>
            <a:ext cx="3396472" cy="166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4"/>
              </a:lnSpc>
            </a:pPr>
            <a:r>
              <a:rPr lang="en-US" sz="2530">
                <a:solidFill>
                  <a:srgbClr val="FFF7BE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Integrantes:</a:t>
            </a:r>
          </a:p>
          <a:p>
            <a:pPr algn="just">
              <a:lnSpc>
                <a:spcPts val="3314"/>
              </a:lnSpc>
            </a:pPr>
            <a:r>
              <a:rPr lang="en-US" sz="2530">
                <a:solidFill>
                  <a:srgbClr val="FFF7BE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Sebastian Monge</a:t>
            </a:r>
          </a:p>
          <a:p>
            <a:pPr algn="just">
              <a:lnSpc>
                <a:spcPts val="3314"/>
              </a:lnSpc>
            </a:pPr>
            <a:r>
              <a:rPr lang="en-US" sz="2530">
                <a:solidFill>
                  <a:srgbClr val="FFF7BE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Tamara Velásquez</a:t>
            </a:r>
          </a:p>
          <a:p>
            <a:pPr algn="just">
              <a:lnSpc>
                <a:spcPts val="3314"/>
              </a:lnSpc>
            </a:pPr>
            <a:r>
              <a:rPr lang="en-US" sz="2530">
                <a:solidFill>
                  <a:srgbClr val="FFF7BE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Camila Muñoz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06341" y="-249728"/>
            <a:ext cx="10335484" cy="11180851"/>
            <a:chOff x="0" y="0"/>
            <a:chExt cx="2000461" cy="21640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0461" cy="2164084"/>
            </a:xfrm>
            <a:custGeom>
              <a:avLst/>
              <a:gdLst/>
              <a:ahLst/>
              <a:cxnLst/>
              <a:rect r="r" b="b" t="t" l="l"/>
              <a:pathLst>
                <a:path h="2164084" w="2000461">
                  <a:moveTo>
                    <a:pt x="1000230" y="0"/>
                  </a:moveTo>
                  <a:cubicBezTo>
                    <a:pt x="447818" y="0"/>
                    <a:pt x="0" y="484447"/>
                    <a:pt x="0" y="1082042"/>
                  </a:cubicBezTo>
                  <a:cubicBezTo>
                    <a:pt x="0" y="1679637"/>
                    <a:pt x="447818" y="2164084"/>
                    <a:pt x="1000230" y="2164084"/>
                  </a:cubicBezTo>
                  <a:cubicBezTo>
                    <a:pt x="1552642" y="2164084"/>
                    <a:pt x="2000461" y="1679637"/>
                    <a:pt x="2000461" y="1082042"/>
                  </a:cubicBezTo>
                  <a:cubicBezTo>
                    <a:pt x="2000461" y="484447"/>
                    <a:pt x="1552642" y="0"/>
                    <a:pt x="1000230" y="0"/>
                  </a:cubicBezTo>
                  <a:close/>
                </a:path>
              </a:pathLst>
            </a:custGeom>
            <a:solidFill>
              <a:srgbClr val="90BB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87543" y="164783"/>
              <a:ext cx="1625375" cy="1796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7171" y="3156190"/>
            <a:ext cx="12318017" cy="6480517"/>
            <a:chOff x="0" y="0"/>
            <a:chExt cx="3247199" cy="17083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47199" cy="1708354"/>
            </a:xfrm>
            <a:custGeom>
              <a:avLst/>
              <a:gdLst/>
              <a:ahLst/>
              <a:cxnLst/>
              <a:rect r="r" b="b" t="t" l="l"/>
              <a:pathLst>
                <a:path h="1708354" w="3247199">
                  <a:moveTo>
                    <a:pt x="32054" y="0"/>
                  </a:moveTo>
                  <a:lnTo>
                    <a:pt x="3215145" y="0"/>
                  </a:lnTo>
                  <a:cubicBezTo>
                    <a:pt x="3232848" y="0"/>
                    <a:pt x="3247199" y="14351"/>
                    <a:pt x="3247199" y="32054"/>
                  </a:cubicBezTo>
                  <a:lnTo>
                    <a:pt x="3247199" y="1676300"/>
                  </a:lnTo>
                  <a:cubicBezTo>
                    <a:pt x="3247199" y="1684801"/>
                    <a:pt x="3243822" y="1692954"/>
                    <a:pt x="3237811" y="1698965"/>
                  </a:cubicBezTo>
                  <a:cubicBezTo>
                    <a:pt x="3231799" y="1704977"/>
                    <a:pt x="3223646" y="1708354"/>
                    <a:pt x="3215145" y="1708354"/>
                  </a:cubicBezTo>
                  <a:lnTo>
                    <a:pt x="32054" y="1708354"/>
                  </a:lnTo>
                  <a:cubicBezTo>
                    <a:pt x="14351" y="1708354"/>
                    <a:pt x="0" y="1694003"/>
                    <a:pt x="0" y="1676300"/>
                  </a:cubicBezTo>
                  <a:lnTo>
                    <a:pt x="0" y="32054"/>
                  </a:lnTo>
                  <a:cubicBezTo>
                    <a:pt x="0" y="23553"/>
                    <a:pt x="3377" y="15400"/>
                    <a:pt x="9388" y="9388"/>
                  </a:cubicBezTo>
                  <a:cubicBezTo>
                    <a:pt x="15400" y="3377"/>
                    <a:pt x="23553" y="0"/>
                    <a:pt x="32054" y="0"/>
                  </a:cubicBezTo>
                  <a:close/>
                </a:path>
              </a:pathLst>
            </a:custGeom>
            <a:solidFill>
              <a:srgbClr val="D9FF92">
                <a:alpha val="68627"/>
              </a:srgbClr>
            </a:solidFill>
            <a:ln w="28575" cap="rnd">
              <a:solidFill>
                <a:srgbClr val="FFFFFF">
                  <a:alpha val="68627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47199" cy="1765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95870" y="753806"/>
            <a:ext cx="4590967" cy="1451999"/>
            <a:chOff x="0" y="0"/>
            <a:chExt cx="1377719" cy="4357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7719" cy="435735"/>
            </a:xfrm>
            <a:custGeom>
              <a:avLst/>
              <a:gdLst/>
              <a:ahLst/>
              <a:cxnLst/>
              <a:rect r="r" b="b" t="t" l="l"/>
              <a:pathLst>
                <a:path h="435735" w="1377719">
                  <a:moveTo>
                    <a:pt x="109612" y="0"/>
                  </a:moveTo>
                  <a:lnTo>
                    <a:pt x="1268107" y="0"/>
                  </a:lnTo>
                  <a:cubicBezTo>
                    <a:pt x="1328644" y="0"/>
                    <a:pt x="1377719" y="49075"/>
                    <a:pt x="1377719" y="109612"/>
                  </a:cubicBezTo>
                  <a:lnTo>
                    <a:pt x="1377719" y="326123"/>
                  </a:lnTo>
                  <a:cubicBezTo>
                    <a:pt x="1377719" y="386660"/>
                    <a:pt x="1328644" y="435735"/>
                    <a:pt x="1268107" y="435735"/>
                  </a:cubicBezTo>
                  <a:lnTo>
                    <a:pt x="109612" y="435735"/>
                  </a:lnTo>
                  <a:cubicBezTo>
                    <a:pt x="49075" y="435735"/>
                    <a:pt x="0" y="386660"/>
                    <a:pt x="0" y="326123"/>
                  </a:cubicBezTo>
                  <a:lnTo>
                    <a:pt x="0" y="109612"/>
                  </a:lnTo>
                  <a:cubicBezTo>
                    <a:pt x="0" y="49075"/>
                    <a:pt x="49075" y="0"/>
                    <a:pt x="109612" y="0"/>
                  </a:cubicBezTo>
                  <a:close/>
                </a:path>
              </a:pathLst>
            </a:custGeom>
            <a:solidFill>
              <a:srgbClr val="FBF4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377719" cy="350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56397" y="1228210"/>
            <a:ext cx="5069913" cy="57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6"/>
              </a:lnSpc>
              <a:spcBef>
                <a:spcPct val="0"/>
              </a:spcBef>
            </a:pPr>
            <a:r>
              <a:rPr lang="en-US" sz="4336">
                <a:solidFill>
                  <a:srgbClr val="356639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NUTRIVIDA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56923" y="2334541"/>
            <a:ext cx="9671893" cy="52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1"/>
              </a:lnSpc>
              <a:spcBef>
                <a:spcPct val="0"/>
              </a:spcBef>
            </a:pPr>
            <a:r>
              <a:rPr lang="en-US" b="true" sz="3230">
                <a:solidFill>
                  <a:srgbClr val="000000"/>
                </a:solidFill>
                <a:latin typeface="Lookpeach Font TH Bold"/>
                <a:ea typeface="Lookpeach Font TH Bold"/>
                <a:cs typeface="Lookpeach Font TH Bold"/>
                <a:sym typeface="Lookpeach Font TH Bold"/>
              </a:rPr>
              <a:t>Plataforma Web de Gestión Clínica y Nutricional.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7633" y="3793898"/>
            <a:ext cx="10470474" cy="170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NutriVida es un prototipo interactivo de interfaz web diseñado exclusivamente en Front-End (HTML, CSS, JS). Su objetivo es simular la experiencia visual y operativa de una clínica nutricional mediante tres módulos según el usuario que ingresa: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4600" y="5765573"/>
            <a:ext cx="10673506" cy="342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Administrador: Diseños con gráficos de asistencia, métricas de atención y gestión de clientes. 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Nutricionista: Interfaz para revisar agendas del día, consultar historiales y calcular el IMC automáticamente en el formulario. 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Paciente: Pantallas intuitivas para agendar o cambiar horas de consulta, ver planes y revisar la ubicación de la clínica.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620325" y="4077722"/>
            <a:ext cx="3667675" cy="2525951"/>
          </a:xfrm>
          <a:custGeom>
            <a:avLst/>
            <a:gdLst/>
            <a:ahLst/>
            <a:cxnLst/>
            <a:rect r="r" b="b" t="t" l="l"/>
            <a:pathLst>
              <a:path h="2525951" w="3667675">
                <a:moveTo>
                  <a:pt x="0" y="0"/>
                </a:moveTo>
                <a:lnTo>
                  <a:pt x="3667675" y="0"/>
                </a:lnTo>
                <a:lnTo>
                  <a:pt x="3667675" y="2525951"/>
                </a:lnTo>
                <a:lnTo>
                  <a:pt x="0" y="2525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93" t="0" r="-6329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9707" y="1962585"/>
            <a:ext cx="16655287" cy="7814645"/>
            <a:chOff x="0" y="0"/>
            <a:chExt cx="4390563" cy="20600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563" cy="2060048"/>
            </a:xfrm>
            <a:custGeom>
              <a:avLst/>
              <a:gdLst/>
              <a:ahLst/>
              <a:cxnLst/>
              <a:rect r="r" b="b" t="t" l="l"/>
              <a:pathLst>
                <a:path h="2060048" w="4390563">
                  <a:moveTo>
                    <a:pt x="23706" y="0"/>
                  </a:moveTo>
                  <a:lnTo>
                    <a:pt x="4366857" y="0"/>
                  </a:lnTo>
                  <a:cubicBezTo>
                    <a:pt x="4379950" y="0"/>
                    <a:pt x="4390563" y="10614"/>
                    <a:pt x="4390563" y="23706"/>
                  </a:cubicBezTo>
                  <a:lnTo>
                    <a:pt x="4390563" y="2036342"/>
                  </a:lnTo>
                  <a:cubicBezTo>
                    <a:pt x="4390563" y="2042629"/>
                    <a:pt x="4388066" y="2048659"/>
                    <a:pt x="4383620" y="2053105"/>
                  </a:cubicBezTo>
                  <a:cubicBezTo>
                    <a:pt x="4379174" y="2057551"/>
                    <a:pt x="4373144" y="2060048"/>
                    <a:pt x="4366857" y="2060048"/>
                  </a:cubicBezTo>
                  <a:lnTo>
                    <a:pt x="23706" y="2060048"/>
                  </a:lnTo>
                  <a:cubicBezTo>
                    <a:pt x="17419" y="2060048"/>
                    <a:pt x="11389" y="2057551"/>
                    <a:pt x="6943" y="2053105"/>
                  </a:cubicBezTo>
                  <a:cubicBezTo>
                    <a:pt x="2498" y="2048659"/>
                    <a:pt x="0" y="2042629"/>
                    <a:pt x="0" y="2036342"/>
                  </a:cubicBezTo>
                  <a:lnTo>
                    <a:pt x="0" y="23706"/>
                  </a:lnTo>
                  <a:cubicBezTo>
                    <a:pt x="0" y="17419"/>
                    <a:pt x="2498" y="11389"/>
                    <a:pt x="6943" y="6943"/>
                  </a:cubicBezTo>
                  <a:cubicBezTo>
                    <a:pt x="11389" y="2498"/>
                    <a:pt x="17419" y="0"/>
                    <a:pt x="23706" y="0"/>
                  </a:cubicBezTo>
                  <a:close/>
                </a:path>
              </a:pathLst>
            </a:custGeom>
            <a:solidFill>
              <a:srgbClr val="D9FF92">
                <a:alpha val="68627"/>
              </a:srgbClr>
            </a:solidFill>
            <a:ln w="28575" cap="rnd">
              <a:solidFill>
                <a:srgbClr val="FFFFFF">
                  <a:alpha val="68627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90563" cy="2107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96250" y="317381"/>
            <a:ext cx="1601360" cy="1422639"/>
          </a:xfrm>
          <a:custGeom>
            <a:avLst/>
            <a:gdLst/>
            <a:ahLst/>
            <a:cxnLst/>
            <a:rect r="r" b="b" t="t" l="l"/>
            <a:pathLst>
              <a:path h="1422639" w="1601360">
                <a:moveTo>
                  <a:pt x="0" y="0"/>
                </a:moveTo>
                <a:lnTo>
                  <a:pt x="1601360" y="0"/>
                </a:lnTo>
                <a:lnTo>
                  <a:pt x="1601360" y="1422638"/>
                </a:lnTo>
                <a:lnTo>
                  <a:pt x="0" y="1422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79" t="0" r="-2297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38580" y="2080200"/>
            <a:ext cx="14636228" cy="932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8"/>
              </a:lnSpc>
            </a:pPr>
            <a:r>
              <a:rPr lang="en-US" sz="2479">
                <a:solidFill>
                  <a:srgbClr val="000000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NutriVida es una clínica de nutrición y dietética fundada en 2016 en Temuco, Región de La Araucanía. Está formada por 4 nutricionistas que atienden pacientes con distintos objetivos. </a:t>
            </a:r>
          </a:p>
          <a:p>
            <a:pPr algn="ctr">
              <a:lnSpc>
                <a:spcPts val="3868"/>
              </a:lnSpc>
            </a:pPr>
          </a:p>
          <a:p>
            <a:pPr algn="ctr">
              <a:lnSpc>
                <a:spcPts val="3868"/>
              </a:lnSpc>
            </a:pPr>
            <a:r>
              <a:rPr lang="en-US" sz="2479">
                <a:solidFill>
                  <a:srgbClr val="000000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Actualmente atienden un flujo constante de unos 60 pacientes por semana, con controles quincenales o mensuales. </a:t>
            </a:r>
          </a:p>
          <a:p>
            <a:pPr algn="ctr">
              <a:lnSpc>
                <a:spcPts val="3868"/>
              </a:lnSpc>
            </a:pPr>
          </a:p>
          <a:p>
            <a:pPr algn="ctr">
              <a:lnSpc>
                <a:spcPts val="3868"/>
              </a:lnSpc>
            </a:pPr>
            <a:r>
              <a:rPr lang="en-US" sz="2479">
                <a:solidFill>
                  <a:srgbClr val="000000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 El 70% de sus pacientes llega recomendado por médicos o por el boca a boca, lo que demuestra la excelente calidad de su atención. </a:t>
            </a:r>
          </a:p>
          <a:p>
            <a:pPr algn="ctr">
              <a:lnSpc>
                <a:spcPts val="3868"/>
              </a:lnSpc>
            </a:pPr>
          </a:p>
          <a:p>
            <a:pPr algn="ctr">
              <a:lnSpc>
                <a:spcPts val="3868"/>
              </a:lnSpc>
            </a:pPr>
            <a:r>
              <a:rPr lang="en-US" sz="2479">
                <a:solidFill>
                  <a:srgbClr val="000000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A pesar de su éxito, la clínica no tiene página web, ni un sistema de agendamiento digital. Esto genera cuellos de botella en la atención y pérdida de tiempo organizando horas manualmente. </a:t>
            </a:r>
          </a:p>
          <a:p>
            <a:pPr algn="ctr">
              <a:lnSpc>
                <a:spcPts val="3868"/>
              </a:lnSpc>
            </a:pPr>
          </a:p>
          <a:p>
            <a:pPr algn="ctr">
              <a:lnSpc>
                <a:spcPts val="3868"/>
              </a:lnSpc>
            </a:pPr>
            <a:r>
              <a:rPr lang="en-US" b="true" sz="2479">
                <a:solidFill>
                  <a:srgbClr val="000000"/>
                </a:solidFill>
                <a:latin typeface="Lookpeach Font TH Bold"/>
                <a:ea typeface="Lookpeach Font TH Bold"/>
                <a:cs typeface="Lookpeach Font TH Bold"/>
                <a:sym typeface="Lookpeach Font TH Bold"/>
              </a:rPr>
              <a:t>Nuestra Propuesta</a:t>
            </a:r>
          </a:p>
          <a:p>
            <a:pPr algn="ctr">
              <a:lnSpc>
                <a:spcPts val="3868"/>
              </a:lnSpc>
            </a:pPr>
            <a:r>
              <a:rPr lang="en-US" sz="2479">
                <a:solidFill>
                  <a:srgbClr val="000000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Desarrollar el Front-End de una plataforma web moderna que les permita digitalizar sus reservas, mostrar sus servicios y automatizar el control de fichas clínicas.</a:t>
            </a:r>
          </a:p>
          <a:p>
            <a:pPr algn="ctr">
              <a:lnSpc>
                <a:spcPts val="2952"/>
              </a:lnSpc>
            </a:pPr>
          </a:p>
          <a:p>
            <a:pPr algn="ctr">
              <a:lnSpc>
                <a:spcPts val="2649"/>
              </a:lnSpc>
              <a:spcBef>
                <a:spcPct val="0"/>
              </a:spcBef>
            </a:pPr>
          </a:p>
          <a:p>
            <a:pPr algn="ctr">
              <a:lnSpc>
                <a:spcPts val="2649"/>
              </a:lnSpc>
              <a:spcBef>
                <a:spcPct val="0"/>
              </a:spcBef>
            </a:pPr>
          </a:p>
          <a:p>
            <a:pPr algn="ctr">
              <a:lnSpc>
                <a:spcPts val="2649"/>
              </a:lnSpc>
              <a:spcBef>
                <a:spcPct val="0"/>
              </a:spcBef>
            </a:pPr>
          </a:p>
          <a:p>
            <a:pPr algn="ctr">
              <a:lnSpc>
                <a:spcPts val="2649"/>
              </a:lnSpc>
              <a:spcBef>
                <a:spcPct val="0"/>
              </a:spcBef>
            </a:pPr>
          </a:p>
          <a:p>
            <a:pPr algn="ctr">
              <a:lnSpc>
                <a:spcPts val="2649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96705" y="183163"/>
            <a:ext cx="5251606" cy="1278974"/>
            <a:chOff x="0" y="0"/>
            <a:chExt cx="1575972" cy="3838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75972" cy="383812"/>
            </a:xfrm>
            <a:custGeom>
              <a:avLst/>
              <a:gdLst/>
              <a:ahLst/>
              <a:cxnLst/>
              <a:rect r="r" b="b" t="t" l="l"/>
              <a:pathLst>
                <a:path h="383812" w="1575972">
                  <a:moveTo>
                    <a:pt x="95823" y="0"/>
                  </a:moveTo>
                  <a:lnTo>
                    <a:pt x="1480149" y="0"/>
                  </a:lnTo>
                  <a:cubicBezTo>
                    <a:pt x="1533071" y="0"/>
                    <a:pt x="1575972" y="42901"/>
                    <a:pt x="1575972" y="95823"/>
                  </a:cubicBezTo>
                  <a:lnTo>
                    <a:pt x="1575972" y="287989"/>
                  </a:lnTo>
                  <a:cubicBezTo>
                    <a:pt x="1575972" y="313402"/>
                    <a:pt x="1565877" y="337775"/>
                    <a:pt x="1547906" y="355746"/>
                  </a:cubicBezTo>
                  <a:cubicBezTo>
                    <a:pt x="1529936" y="373716"/>
                    <a:pt x="1505563" y="383812"/>
                    <a:pt x="1480149" y="383812"/>
                  </a:cubicBezTo>
                  <a:lnTo>
                    <a:pt x="95823" y="383812"/>
                  </a:lnTo>
                  <a:cubicBezTo>
                    <a:pt x="70409" y="383812"/>
                    <a:pt x="46036" y="373716"/>
                    <a:pt x="28066" y="355746"/>
                  </a:cubicBezTo>
                  <a:cubicBezTo>
                    <a:pt x="10096" y="337775"/>
                    <a:pt x="0" y="313402"/>
                    <a:pt x="0" y="287989"/>
                  </a:cubicBezTo>
                  <a:lnTo>
                    <a:pt x="0" y="95823"/>
                  </a:lnTo>
                  <a:cubicBezTo>
                    <a:pt x="0" y="70409"/>
                    <a:pt x="10096" y="46036"/>
                    <a:pt x="28066" y="28066"/>
                  </a:cubicBezTo>
                  <a:cubicBezTo>
                    <a:pt x="46036" y="10096"/>
                    <a:pt x="70409" y="0"/>
                    <a:pt x="95823" y="0"/>
                  </a:cubicBezTo>
                  <a:close/>
                </a:path>
              </a:pathLst>
            </a:custGeom>
            <a:solidFill>
              <a:srgbClr val="C1FF72">
                <a:alpha val="37647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1575972" cy="29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5699" y="763558"/>
            <a:ext cx="4313617" cy="38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0"/>
              </a:lnSpc>
            </a:pPr>
            <a:r>
              <a:rPr lang="en-US" sz="3289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CONTEXTO DEL CASO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6705" y="183163"/>
            <a:ext cx="5251606" cy="1278974"/>
            <a:chOff x="0" y="0"/>
            <a:chExt cx="1575972" cy="3838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5972" cy="383812"/>
            </a:xfrm>
            <a:custGeom>
              <a:avLst/>
              <a:gdLst/>
              <a:ahLst/>
              <a:cxnLst/>
              <a:rect r="r" b="b" t="t" l="l"/>
              <a:pathLst>
                <a:path h="383812" w="1575972">
                  <a:moveTo>
                    <a:pt x="95823" y="0"/>
                  </a:moveTo>
                  <a:lnTo>
                    <a:pt x="1480149" y="0"/>
                  </a:lnTo>
                  <a:cubicBezTo>
                    <a:pt x="1533071" y="0"/>
                    <a:pt x="1575972" y="42901"/>
                    <a:pt x="1575972" y="95823"/>
                  </a:cubicBezTo>
                  <a:lnTo>
                    <a:pt x="1575972" y="287989"/>
                  </a:lnTo>
                  <a:cubicBezTo>
                    <a:pt x="1575972" y="313402"/>
                    <a:pt x="1565877" y="337775"/>
                    <a:pt x="1547906" y="355746"/>
                  </a:cubicBezTo>
                  <a:cubicBezTo>
                    <a:pt x="1529936" y="373716"/>
                    <a:pt x="1505563" y="383812"/>
                    <a:pt x="1480149" y="383812"/>
                  </a:cubicBezTo>
                  <a:lnTo>
                    <a:pt x="95823" y="383812"/>
                  </a:lnTo>
                  <a:cubicBezTo>
                    <a:pt x="70409" y="383812"/>
                    <a:pt x="46036" y="373716"/>
                    <a:pt x="28066" y="355746"/>
                  </a:cubicBezTo>
                  <a:cubicBezTo>
                    <a:pt x="10096" y="337775"/>
                    <a:pt x="0" y="313402"/>
                    <a:pt x="0" y="287989"/>
                  </a:cubicBezTo>
                  <a:lnTo>
                    <a:pt x="0" y="95823"/>
                  </a:lnTo>
                  <a:cubicBezTo>
                    <a:pt x="0" y="70409"/>
                    <a:pt x="10096" y="46036"/>
                    <a:pt x="28066" y="28066"/>
                  </a:cubicBezTo>
                  <a:cubicBezTo>
                    <a:pt x="46036" y="10096"/>
                    <a:pt x="70409" y="0"/>
                    <a:pt x="95823" y="0"/>
                  </a:cubicBezTo>
                  <a:close/>
                </a:path>
              </a:pathLst>
            </a:custGeom>
            <a:solidFill>
              <a:srgbClr val="C1FF72">
                <a:alpha val="3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575972" cy="29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9258" y="573498"/>
            <a:ext cx="4046500" cy="71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00"/>
              </a:lnSpc>
            </a:pPr>
            <a:r>
              <a:rPr lang="en-US" sz="6144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mockup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24812" y="1749783"/>
            <a:ext cx="17204069" cy="6787435"/>
          </a:xfrm>
          <a:custGeom>
            <a:avLst/>
            <a:gdLst/>
            <a:ahLst/>
            <a:cxnLst/>
            <a:rect r="r" b="b" t="t" l="l"/>
            <a:pathLst>
              <a:path h="6787435" w="17204069">
                <a:moveTo>
                  <a:pt x="0" y="0"/>
                </a:moveTo>
                <a:lnTo>
                  <a:pt x="17204069" y="0"/>
                </a:lnTo>
                <a:lnTo>
                  <a:pt x="17204069" y="6787434"/>
                </a:lnTo>
                <a:lnTo>
                  <a:pt x="0" y="6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2" t="0" r="-564" b="-13443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8056" y="1859279"/>
            <a:ext cx="13074555" cy="7125720"/>
          </a:xfrm>
          <a:custGeom>
            <a:avLst/>
            <a:gdLst/>
            <a:ahLst/>
            <a:cxnLst/>
            <a:rect r="r" b="b" t="t" l="l"/>
            <a:pathLst>
              <a:path h="7125720" w="13074555">
                <a:moveTo>
                  <a:pt x="0" y="0"/>
                </a:moveTo>
                <a:lnTo>
                  <a:pt x="13074555" y="0"/>
                </a:lnTo>
                <a:lnTo>
                  <a:pt x="13074555" y="7125720"/>
                </a:lnTo>
                <a:lnTo>
                  <a:pt x="0" y="7125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4" t="-70138" r="-8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6705" y="183163"/>
            <a:ext cx="5251606" cy="1278974"/>
            <a:chOff x="0" y="0"/>
            <a:chExt cx="1575972" cy="3838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5972" cy="383812"/>
            </a:xfrm>
            <a:custGeom>
              <a:avLst/>
              <a:gdLst/>
              <a:ahLst/>
              <a:cxnLst/>
              <a:rect r="r" b="b" t="t" l="l"/>
              <a:pathLst>
                <a:path h="383812" w="1575972">
                  <a:moveTo>
                    <a:pt x="95823" y="0"/>
                  </a:moveTo>
                  <a:lnTo>
                    <a:pt x="1480149" y="0"/>
                  </a:lnTo>
                  <a:cubicBezTo>
                    <a:pt x="1533071" y="0"/>
                    <a:pt x="1575972" y="42901"/>
                    <a:pt x="1575972" y="95823"/>
                  </a:cubicBezTo>
                  <a:lnTo>
                    <a:pt x="1575972" y="287989"/>
                  </a:lnTo>
                  <a:cubicBezTo>
                    <a:pt x="1575972" y="313402"/>
                    <a:pt x="1565877" y="337775"/>
                    <a:pt x="1547906" y="355746"/>
                  </a:cubicBezTo>
                  <a:cubicBezTo>
                    <a:pt x="1529936" y="373716"/>
                    <a:pt x="1505563" y="383812"/>
                    <a:pt x="1480149" y="383812"/>
                  </a:cubicBezTo>
                  <a:lnTo>
                    <a:pt x="95823" y="383812"/>
                  </a:lnTo>
                  <a:cubicBezTo>
                    <a:pt x="70409" y="383812"/>
                    <a:pt x="46036" y="373716"/>
                    <a:pt x="28066" y="355746"/>
                  </a:cubicBezTo>
                  <a:cubicBezTo>
                    <a:pt x="10096" y="337775"/>
                    <a:pt x="0" y="313402"/>
                    <a:pt x="0" y="287989"/>
                  </a:cubicBezTo>
                  <a:lnTo>
                    <a:pt x="0" y="95823"/>
                  </a:lnTo>
                  <a:cubicBezTo>
                    <a:pt x="0" y="70409"/>
                    <a:pt x="10096" y="46036"/>
                    <a:pt x="28066" y="28066"/>
                  </a:cubicBezTo>
                  <a:cubicBezTo>
                    <a:pt x="46036" y="10096"/>
                    <a:pt x="70409" y="0"/>
                    <a:pt x="95823" y="0"/>
                  </a:cubicBezTo>
                  <a:close/>
                </a:path>
              </a:pathLst>
            </a:custGeom>
            <a:solidFill>
              <a:srgbClr val="C1FF72">
                <a:alpha val="3764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575972" cy="29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9258" y="573498"/>
            <a:ext cx="4046500" cy="71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00"/>
              </a:lnSpc>
            </a:pPr>
            <a:r>
              <a:rPr lang="en-US" sz="6144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mockup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000">
            <a:off x="940306" y="1707825"/>
            <a:ext cx="8299173" cy="7384608"/>
          </a:xfrm>
          <a:custGeom>
            <a:avLst/>
            <a:gdLst/>
            <a:ahLst/>
            <a:cxnLst/>
            <a:rect r="r" b="b" t="t" l="l"/>
            <a:pathLst>
              <a:path h="7384608" w="8299173">
                <a:moveTo>
                  <a:pt x="51153" y="0"/>
                </a:moveTo>
                <a:lnTo>
                  <a:pt x="8299173" y="57583"/>
                </a:lnTo>
                <a:lnTo>
                  <a:pt x="8248020" y="7384608"/>
                </a:lnTo>
                <a:lnTo>
                  <a:pt x="0" y="7327025"/>
                </a:lnTo>
                <a:lnTo>
                  <a:pt x="51153" y="0"/>
                </a:lnTo>
                <a:close/>
              </a:path>
            </a:pathLst>
          </a:custGeom>
          <a:blipFill>
            <a:blip r:embed="rId2"/>
            <a:stretch>
              <a:fillRect l="-2653" t="-2516" r="-2706" b="-573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58620" y="8559322"/>
            <a:ext cx="1601360" cy="1397956"/>
          </a:xfrm>
          <a:custGeom>
            <a:avLst/>
            <a:gdLst/>
            <a:ahLst/>
            <a:cxnLst/>
            <a:rect r="r" b="b" t="t" l="l"/>
            <a:pathLst>
              <a:path h="1397956" w="1601360">
                <a:moveTo>
                  <a:pt x="0" y="0"/>
                </a:moveTo>
                <a:lnTo>
                  <a:pt x="1601360" y="0"/>
                </a:lnTo>
                <a:lnTo>
                  <a:pt x="1601360" y="1397956"/>
                </a:lnTo>
                <a:lnTo>
                  <a:pt x="0" y="1397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742" t="0" r="-2170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05907" y="3197471"/>
            <a:ext cx="7210684" cy="3268771"/>
          </a:xfrm>
          <a:custGeom>
            <a:avLst/>
            <a:gdLst/>
            <a:ahLst/>
            <a:cxnLst/>
            <a:rect r="r" b="b" t="t" l="l"/>
            <a:pathLst>
              <a:path h="3268771" w="7210684">
                <a:moveTo>
                  <a:pt x="0" y="0"/>
                </a:moveTo>
                <a:lnTo>
                  <a:pt x="7210684" y="0"/>
                </a:lnTo>
                <a:lnTo>
                  <a:pt x="7210684" y="3268770"/>
                </a:lnTo>
                <a:lnTo>
                  <a:pt x="0" y="32687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86" t="-202959" r="-2014" b="-7945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6705" y="183163"/>
            <a:ext cx="5251606" cy="1278974"/>
            <a:chOff x="0" y="0"/>
            <a:chExt cx="1575972" cy="3838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5972" cy="383812"/>
            </a:xfrm>
            <a:custGeom>
              <a:avLst/>
              <a:gdLst/>
              <a:ahLst/>
              <a:cxnLst/>
              <a:rect r="r" b="b" t="t" l="l"/>
              <a:pathLst>
                <a:path h="383812" w="1575972">
                  <a:moveTo>
                    <a:pt x="95823" y="0"/>
                  </a:moveTo>
                  <a:lnTo>
                    <a:pt x="1480149" y="0"/>
                  </a:lnTo>
                  <a:cubicBezTo>
                    <a:pt x="1533071" y="0"/>
                    <a:pt x="1575972" y="42901"/>
                    <a:pt x="1575972" y="95823"/>
                  </a:cubicBezTo>
                  <a:lnTo>
                    <a:pt x="1575972" y="287989"/>
                  </a:lnTo>
                  <a:cubicBezTo>
                    <a:pt x="1575972" y="313402"/>
                    <a:pt x="1565877" y="337775"/>
                    <a:pt x="1547906" y="355746"/>
                  </a:cubicBezTo>
                  <a:cubicBezTo>
                    <a:pt x="1529936" y="373716"/>
                    <a:pt x="1505563" y="383812"/>
                    <a:pt x="1480149" y="383812"/>
                  </a:cubicBezTo>
                  <a:lnTo>
                    <a:pt x="95823" y="383812"/>
                  </a:lnTo>
                  <a:cubicBezTo>
                    <a:pt x="70409" y="383812"/>
                    <a:pt x="46036" y="373716"/>
                    <a:pt x="28066" y="355746"/>
                  </a:cubicBezTo>
                  <a:cubicBezTo>
                    <a:pt x="10096" y="337775"/>
                    <a:pt x="0" y="313402"/>
                    <a:pt x="0" y="287989"/>
                  </a:cubicBezTo>
                  <a:lnTo>
                    <a:pt x="0" y="95823"/>
                  </a:lnTo>
                  <a:cubicBezTo>
                    <a:pt x="0" y="70409"/>
                    <a:pt x="10096" y="46036"/>
                    <a:pt x="28066" y="28066"/>
                  </a:cubicBezTo>
                  <a:cubicBezTo>
                    <a:pt x="46036" y="10096"/>
                    <a:pt x="70409" y="0"/>
                    <a:pt x="95823" y="0"/>
                  </a:cubicBezTo>
                  <a:close/>
                </a:path>
              </a:pathLst>
            </a:custGeom>
            <a:solidFill>
              <a:srgbClr val="C1FF72">
                <a:alpha val="3764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1575972" cy="29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9258" y="573498"/>
            <a:ext cx="4046500" cy="71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00"/>
              </a:lnSpc>
            </a:pPr>
            <a:r>
              <a:rPr lang="en-US" sz="6144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DIAGRAMA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01033" y="6656634"/>
            <a:ext cx="8493405" cy="3073551"/>
          </a:xfrm>
          <a:custGeom>
            <a:avLst/>
            <a:gdLst/>
            <a:ahLst/>
            <a:cxnLst/>
            <a:rect r="r" b="b" t="t" l="l"/>
            <a:pathLst>
              <a:path h="3073551" w="8493405">
                <a:moveTo>
                  <a:pt x="0" y="0"/>
                </a:moveTo>
                <a:lnTo>
                  <a:pt x="8493405" y="0"/>
                </a:lnTo>
                <a:lnTo>
                  <a:pt x="8493405" y="3073551"/>
                </a:lnTo>
                <a:lnTo>
                  <a:pt x="0" y="3073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01033" y="3043367"/>
            <a:ext cx="8493405" cy="2988617"/>
          </a:xfrm>
          <a:custGeom>
            <a:avLst/>
            <a:gdLst/>
            <a:ahLst/>
            <a:cxnLst/>
            <a:rect r="r" b="b" t="t" l="l"/>
            <a:pathLst>
              <a:path h="2988617" w="8493405">
                <a:moveTo>
                  <a:pt x="0" y="0"/>
                </a:moveTo>
                <a:lnTo>
                  <a:pt x="8493405" y="0"/>
                </a:lnTo>
                <a:lnTo>
                  <a:pt x="8493405" y="2988617"/>
                </a:lnTo>
                <a:lnTo>
                  <a:pt x="0" y="2988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5830" y="2792624"/>
            <a:ext cx="6896050" cy="7249993"/>
            <a:chOff x="0" y="0"/>
            <a:chExt cx="1817894" cy="19111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17894" cy="1911198"/>
            </a:xfrm>
            <a:custGeom>
              <a:avLst/>
              <a:gdLst/>
              <a:ahLst/>
              <a:cxnLst/>
              <a:rect r="r" b="b" t="t" l="l"/>
              <a:pathLst>
                <a:path h="1911198" w="1817894">
                  <a:moveTo>
                    <a:pt x="57256" y="0"/>
                  </a:moveTo>
                  <a:lnTo>
                    <a:pt x="1760638" y="0"/>
                  </a:lnTo>
                  <a:cubicBezTo>
                    <a:pt x="1775823" y="0"/>
                    <a:pt x="1790386" y="6032"/>
                    <a:pt x="1801124" y="16770"/>
                  </a:cubicBezTo>
                  <a:cubicBezTo>
                    <a:pt x="1811861" y="27507"/>
                    <a:pt x="1817894" y="42071"/>
                    <a:pt x="1817894" y="57256"/>
                  </a:cubicBezTo>
                  <a:lnTo>
                    <a:pt x="1817894" y="1853943"/>
                  </a:lnTo>
                  <a:cubicBezTo>
                    <a:pt x="1817894" y="1869128"/>
                    <a:pt x="1811861" y="1883691"/>
                    <a:pt x="1801124" y="1894429"/>
                  </a:cubicBezTo>
                  <a:cubicBezTo>
                    <a:pt x="1790386" y="1905166"/>
                    <a:pt x="1775823" y="1911198"/>
                    <a:pt x="1760638" y="1911198"/>
                  </a:cubicBezTo>
                  <a:lnTo>
                    <a:pt x="57256" y="1911198"/>
                  </a:lnTo>
                  <a:cubicBezTo>
                    <a:pt x="42071" y="1911198"/>
                    <a:pt x="27507" y="1905166"/>
                    <a:pt x="16770" y="1894429"/>
                  </a:cubicBezTo>
                  <a:cubicBezTo>
                    <a:pt x="6032" y="1883691"/>
                    <a:pt x="0" y="1869128"/>
                    <a:pt x="0" y="1853943"/>
                  </a:cubicBezTo>
                  <a:lnTo>
                    <a:pt x="0" y="57256"/>
                  </a:lnTo>
                  <a:cubicBezTo>
                    <a:pt x="0" y="42071"/>
                    <a:pt x="6032" y="27507"/>
                    <a:pt x="16770" y="16770"/>
                  </a:cubicBezTo>
                  <a:cubicBezTo>
                    <a:pt x="27507" y="6032"/>
                    <a:pt x="42071" y="0"/>
                    <a:pt x="57256" y="0"/>
                  </a:cubicBezTo>
                  <a:close/>
                </a:path>
              </a:pathLst>
            </a:custGeom>
            <a:solidFill>
              <a:srgbClr val="90BB3F">
                <a:alpha val="68627"/>
              </a:srgbClr>
            </a:solidFill>
            <a:ln w="28575" cap="rnd">
              <a:solidFill>
                <a:srgbClr val="FFFFFF">
                  <a:alpha val="68627"/>
                </a:srgbClr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817894" cy="1968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800000">
            <a:off x="7812106" y="4078609"/>
            <a:ext cx="1028700" cy="4114800"/>
          </a:xfrm>
          <a:custGeom>
            <a:avLst/>
            <a:gdLst/>
            <a:ahLst/>
            <a:cxnLst/>
            <a:rect r="r" b="b" t="t" l="l"/>
            <a:pathLst>
              <a:path h="4114800" w="1028700">
                <a:moveTo>
                  <a:pt x="0" y="0"/>
                </a:moveTo>
                <a:lnTo>
                  <a:pt x="1028700" y="0"/>
                </a:lnTo>
                <a:lnTo>
                  <a:pt x="10287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9923" y="3510386"/>
            <a:ext cx="6385719" cy="3146248"/>
          </a:xfrm>
          <a:custGeom>
            <a:avLst/>
            <a:gdLst/>
            <a:ahLst/>
            <a:cxnLst/>
            <a:rect r="r" b="b" t="t" l="l"/>
            <a:pathLst>
              <a:path h="3146248" w="6385719">
                <a:moveTo>
                  <a:pt x="0" y="0"/>
                </a:moveTo>
                <a:lnTo>
                  <a:pt x="6385719" y="0"/>
                </a:lnTo>
                <a:lnTo>
                  <a:pt x="6385719" y="3146248"/>
                </a:lnTo>
                <a:lnTo>
                  <a:pt x="0" y="3146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9923" y="6770934"/>
            <a:ext cx="6291029" cy="3126957"/>
          </a:xfrm>
          <a:custGeom>
            <a:avLst/>
            <a:gdLst/>
            <a:ahLst/>
            <a:cxnLst/>
            <a:rect r="r" b="b" t="t" l="l"/>
            <a:pathLst>
              <a:path h="3126957" w="6291029">
                <a:moveTo>
                  <a:pt x="0" y="0"/>
                </a:moveTo>
                <a:lnTo>
                  <a:pt x="6291030" y="0"/>
                </a:lnTo>
                <a:lnTo>
                  <a:pt x="6291030" y="3126957"/>
                </a:lnTo>
                <a:lnTo>
                  <a:pt x="0" y="31269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31258" y="637777"/>
            <a:ext cx="14819096" cy="146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64"/>
              </a:lnSpc>
            </a:pPr>
            <a:r>
              <a:rPr lang="en-US" sz="4535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Los pacientes deben poder agendar, modificar o cancelar citas sin la necesidad de llamar por teléfono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60311" y="3024317"/>
            <a:ext cx="1487087" cy="36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336">
                <a:solidFill>
                  <a:srgbClr val="FFF7BE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CODIGO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3882" y="4510915"/>
            <a:ext cx="6896050" cy="2656980"/>
            <a:chOff x="0" y="0"/>
            <a:chExt cx="1817894" cy="700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7894" cy="700416"/>
            </a:xfrm>
            <a:custGeom>
              <a:avLst/>
              <a:gdLst/>
              <a:ahLst/>
              <a:cxnLst/>
              <a:rect r="r" b="b" t="t" l="l"/>
              <a:pathLst>
                <a:path h="700416" w="1817894">
                  <a:moveTo>
                    <a:pt x="57256" y="0"/>
                  </a:moveTo>
                  <a:lnTo>
                    <a:pt x="1760638" y="0"/>
                  </a:lnTo>
                  <a:cubicBezTo>
                    <a:pt x="1775823" y="0"/>
                    <a:pt x="1790386" y="6032"/>
                    <a:pt x="1801124" y="16770"/>
                  </a:cubicBezTo>
                  <a:cubicBezTo>
                    <a:pt x="1811861" y="27507"/>
                    <a:pt x="1817894" y="42071"/>
                    <a:pt x="1817894" y="57256"/>
                  </a:cubicBezTo>
                  <a:lnTo>
                    <a:pt x="1817894" y="643161"/>
                  </a:lnTo>
                  <a:cubicBezTo>
                    <a:pt x="1817894" y="658346"/>
                    <a:pt x="1811861" y="672909"/>
                    <a:pt x="1801124" y="683647"/>
                  </a:cubicBezTo>
                  <a:cubicBezTo>
                    <a:pt x="1790386" y="694384"/>
                    <a:pt x="1775823" y="700416"/>
                    <a:pt x="1760638" y="700416"/>
                  </a:cubicBezTo>
                  <a:lnTo>
                    <a:pt x="57256" y="700416"/>
                  </a:lnTo>
                  <a:cubicBezTo>
                    <a:pt x="42071" y="700416"/>
                    <a:pt x="27507" y="694384"/>
                    <a:pt x="16770" y="683647"/>
                  </a:cubicBezTo>
                  <a:cubicBezTo>
                    <a:pt x="6032" y="672909"/>
                    <a:pt x="0" y="658346"/>
                    <a:pt x="0" y="643161"/>
                  </a:cubicBezTo>
                  <a:lnTo>
                    <a:pt x="0" y="57256"/>
                  </a:lnTo>
                  <a:cubicBezTo>
                    <a:pt x="0" y="42071"/>
                    <a:pt x="6032" y="27507"/>
                    <a:pt x="16770" y="16770"/>
                  </a:cubicBezTo>
                  <a:cubicBezTo>
                    <a:pt x="27507" y="6032"/>
                    <a:pt x="42071" y="0"/>
                    <a:pt x="57256" y="0"/>
                  </a:cubicBezTo>
                  <a:close/>
                </a:path>
              </a:pathLst>
            </a:custGeom>
            <a:solidFill>
              <a:srgbClr val="90BB3F">
                <a:alpha val="68627"/>
              </a:srgbClr>
            </a:solidFill>
            <a:ln w="28575" cap="rnd">
              <a:solidFill>
                <a:srgbClr val="FFFFFF">
                  <a:alpha val="68627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817894" cy="75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002435" y="4444456"/>
            <a:ext cx="8847880" cy="2789898"/>
          </a:xfrm>
          <a:custGeom>
            <a:avLst/>
            <a:gdLst/>
            <a:ahLst/>
            <a:cxnLst/>
            <a:rect r="r" b="b" t="t" l="l"/>
            <a:pathLst>
              <a:path h="2789898" w="8847880">
                <a:moveTo>
                  <a:pt x="0" y="0"/>
                </a:moveTo>
                <a:lnTo>
                  <a:pt x="8847880" y="0"/>
                </a:lnTo>
                <a:lnTo>
                  <a:pt x="8847880" y="2789897"/>
                </a:lnTo>
                <a:lnTo>
                  <a:pt x="0" y="2789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7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7519932" y="3782004"/>
            <a:ext cx="1028700" cy="4114800"/>
          </a:xfrm>
          <a:custGeom>
            <a:avLst/>
            <a:gdLst/>
            <a:ahLst/>
            <a:cxnLst/>
            <a:rect r="r" b="b" t="t" l="l"/>
            <a:pathLst>
              <a:path h="4114800" w="1028700">
                <a:moveTo>
                  <a:pt x="0" y="0"/>
                </a:moveTo>
                <a:lnTo>
                  <a:pt x="1028700" y="0"/>
                </a:lnTo>
                <a:lnTo>
                  <a:pt x="10287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1476" y="5435781"/>
            <a:ext cx="6280861" cy="1436427"/>
          </a:xfrm>
          <a:custGeom>
            <a:avLst/>
            <a:gdLst/>
            <a:ahLst/>
            <a:cxnLst/>
            <a:rect r="r" b="b" t="t" l="l"/>
            <a:pathLst>
              <a:path h="1436427" w="6280861">
                <a:moveTo>
                  <a:pt x="0" y="0"/>
                </a:moveTo>
                <a:lnTo>
                  <a:pt x="6280862" y="0"/>
                </a:lnTo>
                <a:lnTo>
                  <a:pt x="6280862" y="1436427"/>
                </a:lnTo>
                <a:lnTo>
                  <a:pt x="0" y="1436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465" t="-1463" r="-4465" b="-610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5830" y="724302"/>
            <a:ext cx="17093210" cy="116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9"/>
              </a:lnSpc>
            </a:pPr>
            <a:r>
              <a:rPr lang="en-US" sz="5300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Los pacientes reciban un recordatorio automático antes</a:t>
            </a:r>
            <a:r>
              <a:rPr lang="en-US" sz="5300" strike="noStrike" u="none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 de su cita.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13123" y="4655214"/>
            <a:ext cx="1487087" cy="36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336">
                <a:solidFill>
                  <a:srgbClr val="FFF7BE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CODIGO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54261" y="3112917"/>
            <a:ext cx="8694779" cy="2511006"/>
          </a:xfrm>
          <a:custGeom>
            <a:avLst/>
            <a:gdLst/>
            <a:ahLst/>
            <a:cxnLst/>
            <a:rect r="r" b="b" t="t" l="l"/>
            <a:pathLst>
              <a:path h="2511006" w="8694779">
                <a:moveTo>
                  <a:pt x="0" y="0"/>
                </a:moveTo>
                <a:lnTo>
                  <a:pt x="8694778" y="0"/>
                </a:lnTo>
                <a:lnTo>
                  <a:pt x="8694778" y="2511005"/>
                </a:lnTo>
                <a:lnTo>
                  <a:pt x="0" y="2511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23" r="0" b="-17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54261" y="5958011"/>
            <a:ext cx="8717342" cy="3988184"/>
          </a:xfrm>
          <a:custGeom>
            <a:avLst/>
            <a:gdLst/>
            <a:ahLst/>
            <a:cxnLst/>
            <a:rect r="r" b="b" t="t" l="l"/>
            <a:pathLst>
              <a:path h="3988184" w="8717342">
                <a:moveTo>
                  <a:pt x="0" y="0"/>
                </a:moveTo>
                <a:lnTo>
                  <a:pt x="8717342" y="0"/>
                </a:lnTo>
                <a:lnTo>
                  <a:pt x="8717342" y="3988184"/>
                </a:lnTo>
                <a:lnTo>
                  <a:pt x="0" y="3988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7585523" y="4368420"/>
            <a:ext cx="1028700" cy="4114800"/>
          </a:xfrm>
          <a:custGeom>
            <a:avLst/>
            <a:gdLst/>
            <a:ahLst/>
            <a:cxnLst/>
            <a:rect r="r" b="b" t="t" l="l"/>
            <a:pathLst>
              <a:path h="4114800" w="1028700">
                <a:moveTo>
                  <a:pt x="0" y="0"/>
                </a:moveTo>
                <a:lnTo>
                  <a:pt x="1028700" y="0"/>
                </a:lnTo>
                <a:lnTo>
                  <a:pt x="10287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9435" y="2942388"/>
            <a:ext cx="6896050" cy="7108428"/>
            <a:chOff x="0" y="0"/>
            <a:chExt cx="1817894" cy="1873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7894" cy="1873880"/>
            </a:xfrm>
            <a:custGeom>
              <a:avLst/>
              <a:gdLst/>
              <a:ahLst/>
              <a:cxnLst/>
              <a:rect r="r" b="b" t="t" l="l"/>
              <a:pathLst>
                <a:path h="1873880" w="1817894">
                  <a:moveTo>
                    <a:pt x="57256" y="0"/>
                  </a:moveTo>
                  <a:lnTo>
                    <a:pt x="1760638" y="0"/>
                  </a:lnTo>
                  <a:cubicBezTo>
                    <a:pt x="1775823" y="0"/>
                    <a:pt x="1790386" y="6032"/>
                    <a:pt x="1801124" y="16770"/>
                  </a:cubicBezTo>
                  <a:cubicBezTo>
                    <a:pt x="1811861" y="27507"/>
                    <a:pt x="1817894" y="42071"/>
                    <a:pt x="1817894" y="57256"/>
                  </a:cubicBezTo>
                  <a:lnTo>
                    <a:pt x="1817894" y="1816624"/>
                  </a:lnTo>
                  <a:cubicBezTo>
                    <a:pt x="1817894" y="1831809"/>
                    <a:pt x="1811861" y="1846372"/>
                    <a:pt x="1801124" y="1857110"/>
                  </a:cubicBezTo>
                  <a:cubicBezTo>
                    <a:pt x="1790386" y="1867847"/>
                    <a:pt x="1775823" y="1873880"/>
                    <a:pt x="1760638" y="1873880"/>
                  </a:cubicBezTo>
                  <a:lnTo>
                    <a:pt x="57256" y="1873880"/>
                  </a:lnTo>
                  <a:cubicBezTo>
                    <a:pt x="42071" y="1873880"/>
                    <a:pt x="27507" y="1867847"/>
                    <a:pt x="16770" y="1857110"/>
                  </a:cubicBezTo>
                  <a:cubicBezTo>
                    <a:pt x="6032" y="1846372"/>
                    <a:pt x="0" y="1831809"/>
                    <a:pt x="0" y="1816624"/>
                  </a:cubicBezTo>
                  <a:lnTo>
                    <a:pt x="0" y="57256"/>
                  </a:lnTo>
                  <a:cubicBezTo>
                    <a:pt x="0" y="42071"/>
                    <a:pt x="6032" y="27507"/>
                    <a:pt x="16770" y="16770"/>
                  </a:cubicBezTo>
                  <a:cubicBezTo>
                    <a:pt x="27507" y="6032"/>
                    <a:pt x="42071" y="0"/>
                    <a:pt x="57256" y="0"/>
                  </a:cubicBezTo>
                  <a:close/>
                </a:path>
              </a:pathLst>
            </a:custGeom>
            <a:solidFill>
              <a:srgbClr val="90BB3F">
                <a:alpha val="68627"/>
              </a:srgbClr>
            </a:solidFill>
            <a:ln w="28575" cap="rnd">
              <a:solidFill>
                <a:srgbClr val="FFFFFF">
                  <a:alpha val="68627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817894" cy="1931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07447" y="3710558"/>
            <a:ext cx="5861788" cy="3014836"/>
          </a:xfrm>
          <a:custGeom>
            <a:avLst/>
            <a:gdLst/>
            <a:ahLst/>
            <a:cxnLst/>
            <a:rect r="r" b="b" t="t" l="l"/>
            <a:pathLst>
              <a:path h="3014836" w="5861788">
                <a:moveTo>
                  <a:pt x="0" y="0"/>
                </a:moveTo>
                <a:lnTo>
                  <a:pt x="5861788" y="0"/>
                </a:lnTo>
                <a:lnTo>
                  <a:pt x="5861788" y="3014836"/>
                </a:lnTo>
                <a:lnTo>
                  <a:pt x="0" y="30148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256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7192" y="6974671"/>
            <a:ext cx="5840535" cy="2555630"/>
          </a:xfrm>
          <a:custGeom>
            <a:avLst/>
            <a:gdLst/>
            <a:ahLst/>
            <a:cxnLst/>
            <a:rect r="r" b="b" t="t" l="l"/>
            <a:pathLst>
              <a:path h="2555630" w="5840535">
                <a:moveTo>
                  <a:pt x="0" y="0"/>
                </a:moveTo>
                <a:lnTo>
                  <a:pt x="5840535" y="0"/>
                </a:lnTo>
                <a:lnTo>
                  <a:pt x="5840535" y="2555630"/>
                </a:lnTo>
                <a:lnTo>
                  <a:pt x="0" y="2555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58168" y="533249"/>
            <a:ext cx="14571664" cy="193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4518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Los nutricionistas puedan registrar mediciones en forma digital y consultar el historial completo del paciente</a:t>
            </a:r>
            <a:r>
              <a:rPr lang="en-US" sz="4518" strike="noStrike" u="none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 desde cualquier dispositivo.</a:t>
            </a:r>
          </a:p>
          <a:p>
            <a:pPr algn="ctr" marL="0" indent="0" lvl="0">
              <a:lnSpc>
                <a:spcPts val="375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34475" y="3093867"/>
            <a:ext cx="1487087" cy="36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336">
                <a:solidFill>
                  <a:srgbClr val="FFF7BE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CODIGO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1579" y="3033214"/>
            <a:ext cx="8265895" cy="3357471"/>
          </a:xfrm>
          <a:custGeom>
            <a:avLst/>
            <a:gdLst/>
            <a:ahLst/>
            <a:cxnLst/>
            <a:rect r="r" b="b" t="t" l="l"/>
            <a:pathLst>
              <a:path h="3357471" w="8265895">
                <a:moveTo>
                  <a:pt x="0" y="0"/>
                </a:moveTo>
                <a:lnTo>
                  <a:pt x="8265895" y="0"/>
                </a:lnTo>
                <a:lnTo>
                  <a:pt x="8265895" y="3357471"/>
                </a:lnTo>
                <a:lnTo>
                  <a:pt x="0" y="3357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69" r="0" b="-14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71121" y="6802717"/>
            <a:ext cx="9679841" cy="2455583"/>
          </a:xfrm>
          <a:custGeom>
            <a:avLst/>
            <a:gdLst/>
            <a:ahLst/>
            <a:cxnLst/>
            <a:rect r="r" b="b" t="t" l="l"/>
            <a:pathLst>
              <a:path h="2455583" w="9679841">
                <a:moveTo>
                  <a:pt x="0" y="0"/>
                </a:moveTo>
                <a:lnTo>
                  <a:pt x="9679841" y="0"/>
                </a:lnTo>
                <a:lnTo>
                  <a:pt x="9679841" y="2455583"/>
                </a:lnTo>
                <a:lnTo>
                  <a:pt x="0" y="24555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6" r="0" b="-13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5444" y="4141686"/>
            <a:ext cx="6896050" cy="4119823"/>
            <a:chOff x="0" y="0"/>
            <a:chExt cx="1817894" cy="10860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17894" cy="1086042"/>
            </a:xfrm>
            <a:custGeom>
              <a:avLst/>
              <a:gdLst/>
              <a:ahLst/>
              <a:cxnLst/>
              <a:rect r="r" b="b" t="t" l="l"/>
              <a:pathLst>
                <a:path h="1086042" w="1817894">
                  <a:moveTo>
                    <a:pt x="57256" y="0"/>
                  </a:moveTo>
                  <a:lnTo>
                    <a:pt x="1760638" y="0"/>
                  </a:lnTo>
                  <a:cubicBezTo>
                    <a:pt x="1775823" y="0"/>
                    <a:pt x="1790386" y="6032"/>
                    <a:pt x="1801124" y="16770"/>
                  </a:cubicBezTo>
                  <a:cubicBezTo>
                    <a:pt x="1811861" y="27507"/>
                    <a:pt x="1817894" y="42071"/>
                    <a:pt x="1817894" y="57256"/>
                  </a:cubicBezTo>
                  <a:lnTo>
                    <a:pt x="1817894" y="1028786"/>
                  </a:lnTo>
                  <a:cubicBezTo>
                    <a:pt x="1817894" y="1043972"/>
                    <a:pt x="1811861" y="1058535"/>
                    <a:pt x="1801124" y="1069272"/>
                  </a:cubicBezTo>
                  <a:cubicBezTo>
                    <a:pt x="1790386" y="1080010"/>
                    <a:pt x="1775823" y="1086042"/>
                    <a:pt x="1760638" y="1086042"/>
                  </a:cubicBezTo>
                  <a:lnTo>
                    <a:pt x="57256" y="1086042"/>
                  </a:lnTo>
                  <a:cubicBezTo>
                    <a:pt x="42071" y="1086042"/>
                    <a:pt x="27507" y="1080010"/>
                    <a:pt x="16770" y="1069272"/>
                  </a:cubicBezTo>
                  <a:cubicBezTo>
                    <a:pt x="6032" y="1058535"/>
                    <a:pt x="0" y="1043972"/>
                    <a:pt x="0" y="1028786"/>
                  </a:cubicBezTo>
                  <a:lnTo>
                    <a:pt x="0" y="57256"/>
                  </a:lnTo>
                  <a:cubicBezTo>
                    <a:pt x="0" y="42071"/>
                    <a:pt x="6032" y="27507"/>
                    <a:pt x="16770" y="16770"/>
                  </a:cubicBezTo>
                  <a:cubicBezTo>
                    <a:pt x="27507" y="6032"/>
                    <a:pt x="42071" y="0"/>
                    <a:pt x="57256" y="0"/>
                  </a:cubicBezTo>
                  <a:close/>
                </a:path>
              </a:pathLst>
            </a:custGeom>
            <a:solidFill>
              <a:srgbClr val="90BB3F">
                <a:alpha val="68627"/>
              </a:srgbClr>
            </a:solidFill>
            <a:ln w="28575" cap="rnd">
              <a:solidFill>
                <a:srgbClr val="FFFFFF">
                  <a:alpha val="68627"/>
                </a:srgbClr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817894" cy="114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800000">
            <a:off x="7442421" y="4254637"/>
            <a:ext cx="1028700" cy="4114800"/>
          </a:xfrm>
          <a:custGeom>
            <a:avLst/>
            <a:gdLst/>
            <a:ahLst/>
            <a:cxnLst/>
            <a:rect r="r" b="b" t="t" l="l"/>
            <a:pathLst>
              <a:path h="4114800" w="1028700">
                <a:moveTo>
                  <a:pt x="0" y="0"/>
                </a:moveTo>
                <a:lnTo>
                  <a:pt x="1028700" y="0"/>
                </a:lnTo>
                <a:lnTo>
                  <a:pt x="10287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3355" y="5008963"/>
            <a:ext cx="6540227" cy="2606149"/>
          </a:xfrm>
          <a:custGeom>
            <a:avLst/>
            <a:gdLst/>
            <a:ahLst/>
            <a:cxnLst/>
            <a:rect r="r" b="b" t="t" l="l"/>
            <a:pathLst>
              <a:path h="2606149" w="6540227">
                <a:moveTo>
                  <a:pt x="0" y="0"/>
                </a:moveTo>
                <a:lnTo>
                  <a:pt x="6540227" y="0"/>
                </a:lnTo>
                <a:lnTo>
                  <a:pt x="6540227" y="2606149"/>
                </a:lnTo>
                <a:lnTo>
                  <a:pt x="0" y="26061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4024" y="764862"/>
            <a:ext cx="17093210" cy="117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5301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Los pacientes puedan ver su historial de progreso y su plan alimenticio en</a:t>
            </a:r>
            <a:r>
              <a:rPr lang="en-US" sz="5301" strike="noStrike" u="none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 cualquier momento.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51344" y="4235587"/>
            <a:ext cx="1487087" cy="36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336">
                <a:solidFill>
                  <a:srgbClr val="FFF7BE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CODIGO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4849" y="7424083"/>
            <a:ext cx="2938103" cy="352572"/>
          </a:xfrm>
          <a:custGeom>
            <a:avLst/>
            <a:gdLst/>
            <a:ahLst/>
            <a:cxnLst/>
            <a:rect r="r" b="b" t="t" l="l"/>
            <a:pathLst>
              <a:path h="352572" w="2938103">
                <a:moveTo>
                  <a:pt x="0" y="0"/>
                </a:moveTo>
                <a:lnTo>
                  <a:pt x="2938103" y="0"/>
                </a:lnTo>
                <a:lnTo>
                  <a:pt x="2938103" y="352572"/>
                </a:lnTo>
                <a:lnTo>
                  <a:pt x="0" y="352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72147" y="6850043"/>
            <a:ext cx="2938103" cy="352572"/>
          </a:xfrm>
          <a:custGeom>
            <a:avLst/>
            <a:gdLst/>
            <a:ahLst/>
            <a:cxnLst/>
            <a:rect r="r" b="b" t="t" l="l"/>
            <a:pathLst>
              <a:path h="352572" w="2938103">
                <a:moveTo>
                  <a:pt x="0" y="0"/>
                </a:moveTo>
                <a:lnTo>
                  <a:pt x="2938103" y="0"/>
                </a:lnTo>
                <a:lnTo>
                  <a:pt x="2938103" y="352572"/>
                </a:lnTo>
                <a:lnTo>
                  <a:pt x="0" y="352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41454" y="3098609"/>
            <a:ext cx="7878469" cy="3157402"/>
          </a:xfrm>
          <a:custGeom>
            <a:avLst/>
            <a:gdLst/>
            <a:ahLst/>
            <a:cxnLst/>
            <a:rect r="r" b="b" t="t" l="l"/>
            <a:pathLst>
              <a:path h="3157402" w="7878469">
                <a:moveTo>
                  <a:pt x="0" y="0"/>
                </a:moveTo>
                <a:lnTo>
                  <a:pt x="7878470" y="0"/>
                </a:lnTo>
                <a:lnTo>
                  <a:pt x="7878470" y="3157402"/>
                </a:lnTo>
                <a:lnTo>
                  <a:pt x="0" y="3157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45183" y="6425820"/>
            <a:ext cx="7479333" cy="3553856"/>
          </a:xfrm>
          <a:custGeom>
            <a:avLst/>
            <a:gdLst/>
            <a:ahLst/>
            <a:cxnLst/>
            <a:rect r="r" b="b" t="t" l="l"/>
            <a:pathLst>
              <a:path h="3553856" w="7479333">
                <a:moveTo>
                  <a:pt x="0" y="0"/>
                </a:moveTo>
                <a:lnTo>
                  <a:pt x="7479333" y="0"/>
                </a:lnTo>
                <a:lnTo>
                  <a:pt x="7479333" y="3553855"/>
                </a:lnTo>
                <a:lnTo>
                  <a:pt x="0" y="3553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24" r="0" b="-42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7684104" y="4228533"/>
            <a:ext cx="1028700" cy="4114800"/>
          </a:xfrm>
          <a:custGeom>
            <a:avLst/>
            <a:gdLst/>
            <a:ahLst/>
            <a:cxnLst/>
            <a:rect r="r" b="b" t="t" l="l"/>
            <a:pathLst>
              <a:path h="4114800" w="1028700">
                <a:moveTo>
                  <a:pt x="0" y="0"/>
                </a:moveTo>
                <a:lnTo>
                  <a:pt x="1028700" y="0"/>
                </a:lnTo>
                <a:lnTo>
                  <a:pt x="10287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4264" y="2490661"/>
            <a:ext cx="7219974" cy="7590544"/>
            <a:chOff x="0" y="0"/>
            <a:chExt cx="1817894" cy="19111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7894" cy="1911198"/>
            </a:xfrm>
            <a:custGeom>
              <a:avLst/>
              <a:gdLst/>
              <a:ahLst/>
              <a:cxnLst/>
              <a:rect r="r" b="b" t="t" l="l"/>
              <a:pathLst>
                <a:path h="1911198" w="1817894">
                  <a:moveTo>
                    <a:pt x="54687" y="0"/>
                  </a:moveTo>
                  <a:lnTo>
                    <a:pt x="1763207" y="0"/>
                  </a:lnTo>
                  <a:cubicBezTo>
                    <a:pt x="1793410" y="0"/>
                    <a:pt x="1817894" y="24484"/>
                    <a:pt x="1817894" y="54687"/>
                  </a:cubicBezTo>
                  <a:lnTo>
                    <a:pt x="1817894" y="1856511"/>
                  </a:lnTo>
                  <a:cubicBezTo>
                    <a:pt x="1817894" y="1871015"/>
                    <a:pt x="1812132" y="1884925"/>
                    <a:pt x="1801876" y="1895181"/>
                  </a:cubicBezTo>
                  <a:cubicBezTo>
                    <a:pt x="1791620" y="1905437"/>
                    <a:pt x="1777711" y="1911198"/>
                    <a:pt x="1763207" y="1911198"/>
                  </a:cubicBezTo>
                  <a:lnTo>
                    <a:pt x="54687" y="1911198"/>
                  </a:lnTo>
                  <a:cubicBezTo>
                    <a:pt x="24484" y="1911198"/>
                    <a:pt x="0" y="1886714"/>
                    <a:pt x="0" y="1856511"/>
                  </a:cubicBezTo>
                  <a:lnTo>
                    <a:pt x="0" y="54687"/>
                  </a:lnTo>
                  <a:cubicBezTo>
                    <a:pt x="0" y="24484"/>
                    <a:pt x="24484" y="0"/>
                    <a:pt x="54687" y="0"/>
                  </a:cubicBezTo>
                  <a:close/>
                </a:path>
              </a:pathLst>
            </a:custGeom>
            <a:solidFill>
              <a:srgbClr val="90BB3F">
                <a:alpha val="68627"/>
              </a:srgbClr>
            </a:solidFill>
            <a:ln w="28575" cap="rnd">
              <a:solidFill>
                <a:srgbClr val="FFFFFF">
                  <a:alpha val="68627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817894" cy="1968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96776" y="3128531"/>
            <a:ext cx="6254950" cy="3097558"/>
          </a:xfrm>
          <a:custGeom>
            <a:avLst/>
            <a:gdLst/>
            <a:ahLst/>
            <a:cxnLst/>
            <a:rect r="r" b="b" t="t" l="l"/>
            <a:pathLst>
              <a:path h="3097558" w="6254950">
                <a:moveTo>
                  <a:pt x="0" y="0"/>
                </a:moveTo>
                <a:lnTo>
                  <a:pt x="6254950" y="0"/>
                </a:lnTo>
                <a:lnTo>
                  <a:pt x="6254950" y="3097558"/>
                </a:lnTo>
                <a:lnTo>
                  <a:pt x="0" y="30975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6776" y="6285933"/>
            <a:ext cx="5162502" cy="3643843"/>
          </a:xfrm>
          <a:custGeom>
            <a:avLst/>
            <a:gdLst/>
            <a:ahLst/>
            <a:cxnLst/>
            <a:rect r="r" b="b" t="t" l="l"/>
            <a:pathLst>
              <a:path h="3643843" w="5162502">
                <a:moveTo>
                  <a:pt x="0" y="0"/>
                </a:moveTo>
                <a:lnTo>
                  <a:pt x="5162503" y="0"/>
                </a:lnTo>
                <a:lnTo>
                  <a:pt x="5162503" y="3643842"/>
                </a:lnTo>
                <a:lnTo>
                  <a:pt x="0" y="36438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30203" y="466197"/>
            <a:ext cx="13881267" cy="157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4826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La clínica pueda obtener estadísticas básicas: atenciones por período, tasa de inasistencia, distribución por n</a:t>
            </a:r>
            <a:r>
              <a:rPr lang="en-US" sz="4826" strike="noStrike" u="none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utricionista.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34475" y="2611525"/>
            <a:ext cx="1487087" cy="36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336">
                <a:solidFill>
                  <a:srgbClr val="FFF7BE"/>
                </a:solidFill>
                <a:latin typeface="Lookpeach Font TH"/>
                <a:ea typeface="Lookpeach Font TH"/>
                <a:cs typeface="Lookpeach Font TH"/>
                <a:sym typeface="Lookpeach Font TH"/>
              </a:rPr>
              <a:t>CODIGO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7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48227" y="-2608210"/>
            <a:ext cx="8397551" cy="8229600"/>
          </a:xfrm>
          <a:custGeom>
            <a:avLst/>
            <a:gdLst/>
            <a:ahLst/>
            <a:cxnLst/>
            <a:rect r="r" b="b" t="t" l="l"/>
            <a:pathLst>
              <a:path h="8229600" w="8397551">
                <a:moveTo>
                  <a:pt x="0" y="0"/>
                </a:moveTo>
                <a:lnTo>
                  <a:pt x="8397551" y="0"/>
                </a:lnTo>
                <a:lnTo>
                  <a:pt x="839755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1604" y="2649131"/>
            <a:ext cx="12862371" cy="6609169"/>
            <a:chOff x="0" y="0"/>
            <a:chExt cx="3390698" cy="17422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90698" cy="1742268"/>
            </a:xfrm>
            <a:custGeom>
              <a:avLst/>
              <a:gdLst/>
              <a:ahLst/>
              <a:cxnLst/>
              <a:rect r="r" b="b" t="t" l="l"/>
              <a:pathLst>
                <a:path h="1742268" w="3390698">
                  <a:moveTo>
                    <a:pt x="30697" y="0"/>
                  </a:moveTo>
                  <a:lnTo>
                    <a:pt x="3360001" y="0"/>
                  </a:lnTo>
                  <a:cubicBezTo>
                    <a:pt x="3368143" y="0"/>
                    <a:pt x="3375951" y="3234"/>
                    <a:pt x="3381708" y="8991"/>
                  </a:cubicBezTo>
                  <a:cubicBezTo>
                    <a:pt x="3387464" y="14748"/>
                    <a:pt x="3390698" y="22556"/>
                    <a:pt x="3390698" y="30697"/>
                  </a:cubicBezTo>
                  <a:lnTo>
                    <a:pt x="3390698" y="1711571"/>
                  </a:lnTo>
                  <a:cubicBezTo>
                    <a:pt x="3390698" y="1719712"/>
                    <a:pt x="3387464" y="1727520"/>
                    <a:pt x="3381708" y="1733277"/>
                  </a:cubicBezTo>
                  <a:cubicBezTo>
                    <a:pt x="3375951" y="1739034"/>
                    <a:pt x="3368143" y="1742268"/>
                    <a:pt x="3360001" y="1742268"/>
                  </a:cubicBezTo>
                  <a:lnTo>
                    <a:pt x="30697" y="1742268"/>
                  </a:lnTo>
                  <a:cubicBezTo>
                    <a:pt x="22556" y="1742268"/>
                    <a:pt x="14748" y="1739034"/>
                    <a:pt x="8991" y="1733277"/>
                  </a:cubicBezTo>
                  <a:cubicBezTo>
                    <a:pt x="3234" y="1727520"/>
                    <a:pt x="0" y="1719712"/>
                    <a:pt x="0" y="1711571"/>
                  </a:cubicBezTo>
                  <a:lnTo>
                    <a:pt x="0" y="30697"/>
                  </a:lnTo>
                  <a:cubicBezTo>
                    <a:pt x="0" y="22556"/>
                    <a:pt x="3234" y="14748"/>
                    <a:pt x="8991" y="8991"/>
                  </a:cubicBezTo>
                  <a:cubicBezTo>
                    <a:pt x="14748" y="3234"/>
                    <a:pt x="22556" y="0"/>
                    <a:pt x="30697" y="0"/>
                  </a:cubicBezTo>
                  <a:close/>
                </a:path>
              </a:pathLst>
            </a:custGeom>
            <a:solidFill>
              <a:srgbClr val="E3F6C0">
                <a:alpha val="68627"/>
              </a:srgbClr>
            </a:solidFill>
            <a:ln w="28575" cap="rnd">
              <a:solidFill>
                <a:srgbClr val="FFFFFF">
                  <a:alpha val="6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90698" cy="1799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88141" y="3305746"/>
            <a:ext cx="12589298" cy="52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3"/>
              </a:lnSpc>
            </a:pPr>
            <a:r>
              <a:rPr lang="en-US" b="true" sz="2988" spc="128">
                <a:solidFill>
                  <a:srgbClr val="000000"/>
                </a:solidFill>
                <a:latin typeface="Lookpeach Font TH Bold"/>
                <a:ea typeface="Lookpeach Font TH Bold"/>
                <a:cs typeface="Lookpeach Font TH Bold"/>
                <a:sym typeface="Lookpeach Font TH Bold"/>
              </a:rPr>
              <a:t>Al desarrollar el Front-End de NutriVida, logramos crear una plataforma clara, rápida y fácil de usar tanto para los pacientes como para el equipo médico. Trabajando solo con HTML, CSS y JavaScript, pudimos simular todo el flujo de la clínica: desde la validación de usuarios y el cálculo automático del IMC, hasta la gestión de citas y métricas usando localStorage para guardar los datos en el navegador. El diseño quedó totalmente listo para que, a futuro, se pueda conectar sin problemas con una base de datos real y un Back-End completo.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176914" y="7350259"/>
            <a:ext cx="2469005" cy="2155393"/>
          </a:xfrm>
          <a:custGeom>
            <a:avLst/>
            <a:gdLst/>
            <a:ahLst/>
            <a:cxnLst/>
            <a:rect r="r" b="b" t="t" l="l"/>
            <a:pathLst>
              <a:path h="2155393" w="2469005">
                <a:moveTo>
                  <a:pt x="0" y="0"/>
                </a:moveTo>
                <a:lnTo>
                  <a:pt x="2469004" y="0"/>
                </a:lnTo>
                <a:lnTo>
                  <a:pt x="2469004" y="2155393"/>
                </a:lnTo>
                <a:lnTo>
                  <a:pt x="0" y="2155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742" t="0" r="-21704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115554" y="867103"/>
            <a:ext cx="5251606" cy="1278974"/>
            <a:chOff x="0" y="0"/>
            <a:chExt cx="1575972" cy="383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5972" cy="383812"/>
            </a:xfrm>
            <a:custGeom>
              <a:avLst/>
              <a:gdLst/>
              <a:ahLst/>
              <a:cxnLst/>
              <a:rect r="r" b="b" t="t" l="l"/>
              <a:pathLst>
                <a:path h="383812" w="1575972">
                  <a:moveTo>
                    <a:pt x="95823" y="0"/>
                  </a:moveTo>
                  <a:lnTo>
                    <a:pt x="1480149" y="0"/>
                  </a:lnTo>
                  <a:cubicBezTo>
                    <a:pt x="1533071" y="0"/>
                    <a:pt x="1575972" y="42901"/>
                    <a:pt x="1575972" y="95823"/>
                  </a:cubicBezTo>
                  <a:lnTo>
                    <a:pt x="1575972" y="287989"/>
                  </a:lnTo>
                  <a:cubicBezTo>
                    <a:pt x="1575972" y="313402"/>
                    <a:pt x="1565877" y="337775"/>
                    <a:pt x="1547906" y="355746"/>
                  </a:cubicBezTo>
                  <a:cubicBezTo>
                    <a:pt x="1529936" y="373716"/>
                    <a:pt x="1505563" y="383812"/>
                    <a:pt x="1480149" y="383812"/>
                  </a:cubicBezTo>
                  <a:lnTo>
                    <a:pt x="95823" y="383812"/>
                  </a:lnTo>
                  <a:cubicBezTo>
                    <a:pt x="70409" y="383812"/>
                    <a:pt x="46036" y="373716"/>
                    <a:pt x="28066" y="355746"/>
                  </a:cubicBezTo>
                  <a:cubicBezTo>
                    <a:pt x="10096" y="337775"/>
                    <a:pt x="0" y="313402"/>
                    <a:pt x="0" y="287989"/>
                  </a:cubicBezTo>
                  <a:lnTo>
                    <a:pt x="0" y="95823"/>
                  </a:lnTo>
                  <a:cubicBezTo>
                    <a:pt x="0" y="70409"/>
                    <a:pt x="10096" y="46036"/>
                    <a:pt x="28066" y="28066"/>
                  </a:cubicBezTo>
                  <a:cubicBezTo>
                    <a:pt x="46036" y="10096"/>
                    <a:pt x="70409" y="0"/>
                    <a:pt x="95823" y="0"/>
                  </a:cubicBezTo>
                  <a:close/>
                </a:path>
              </a:pathLst>
            </a:custGeom>
            <a:solidFill>
              <a:srgbClr val="C1FF72">
                <a:alpha val="3764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575972" cy="29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718108" y="1219339"/>
            <a:ext cx="4046500" cy="632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36"/>
              </a:lnSpc>
            </a:pPr>
            <a:r>
              <a:rPr lang="en-US" sz="5345">
                <a:solidFill>
                  <a:srgbClr val="FFF7BE"/>
                </a:solidFill>
                <a:latin typeface="Off Yer Trolley"/>
                <a:ea typeface="Off Yer Trolley"/>
                <a:cs typeface="Off Yer Trolley"/>
                <a:sym typeface="Off Yer Trolley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DAHUjjRtyxM</dc:identifier>
  <dcterms:modified xsi:type="dcterms:W3CDTF">2011-08-01T06:04:30Z</dcterms:modified>
  <cp:revision>1</cp:revision>
  <dc:title>fullstack 2 </dc:title>
</cp:coreProperties>
</file>